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5"/>
  </p:notesMasterIdLst>
  <p:sldIdLst>
    <p:sldId id="256" r:id="rId2"/>
    <p:sldId id="282" r:id="rId3"/>
    <p:sldId id="287" r:id="rId4"/>
    <p:sldId id="288" r:id="rId5"/>
    <p:sldId id="283" r:id="rId6"/>
    <p:sldId id="285" r:id="rId7"/>
    <p:sldId id="257" r:id="rId8"/>
    <p:sldId id="286" r:id="rId9"/>
    <p:sldId id="289" r:id="rId10"/>
    <p:sldId id="290" r:id="rId11"/>
    <p:sldId id="293" r:id="rId12"/>
    <p:sldId id="292" r:id="rId13"/>
    <p:sldId id="295" r:id="rId14"/>
    <p:sldId id="296" r:id="rId15"/>
    <p:sldId id="298" r:id="rId16"/>
    <p:sldId id="297" r:id="rId17"/>
    <p:sldId id="265" r:id="rId18"/>
    <p:sldId id="299" r:id="rId19"/>
    <p:sldId id="300" r:id="rId20"/>
    <p:sldId id="301" r:id="rId21"/>
    <p:sldId id="303" r:id="rId22"/>
    <p:sldId id="302" r:id="rId23"/>
    <p:sldId id="212325884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C6B0874-C23A-4E77-990B-12FD4678E26A}">
          <p14:sldIdLst>
            <p14:sldId id="256"/>
            <p14:sldId id="282"/>
            <p14:sldId id="287"/>
            <p14:sldId id="288"/>
            <p14:sldId id="283"/>
            <p14:sldId id="285"/>
            <p14:sldId id="257"/>
            <p14:sldId id="286"/>
            <p14:sldId id="289"/>
            <p14:sldId id="290"/>
            <p14:sldId id="293"/>
            <p14:sldId id="292"/>
            <p14:sldId id="295"/>
            <p14:sldId id="296"/>
            <p14:sldId id="298"/>
            <p14:sldId id="297"/>
            <p14:sldId id="265"/>
            <p14:sldId id="299"/>
            <p14:sldId id="300"/>
            <p14:sldId id="301"/>
            <p14:sldId id="303"/>
            <p14:sldId id="302"/>
            <p14:sldId id="212325884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F93AA6-3A32-484E-9D61-F0242F45DA76}" v="3" dt="2026-06-03T09:15:05.6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rwar, Aslam" userId="75d93315-874a-4ad5-b3dc-bf5b1eca5536" providerId="ADAL" clId="{1083C4EE-AB30-43A2-B7B3-EAB156D87910}"/>
    <pc:docChg chg="undo custSel addSld delSld modSld sldOrd modSection">
      <pc:chgData name="Jarwar, Aslam" userId="75d93315-874a-4ad5-b3dc-bf5b1eca5536" providerId="ADAL" clId="{1083C4EE-AB30-43A2-B7B3-EAB156D87910}" dt="2026-06-03T09:15:15.545" v="2809" actId="6549"/>
      <pc:docMkLst>
        <pc:docMk/>
      </pc:docMkLst>
      <pc:sldChg chg="addSp modSp mod">
        <pc:chgData name="Jarwar, Aslam" userId="75d93315-874a-4ad5-b3dc-bf5b1eca5536" providerId="ADAL" clId="{1083C4EE-AB30-43A2-B7B3-EAB156D87910}" dt="2026-06-03T09:15:09.594" v="2808" actId="1076"/>
        <pc:sldMkLst>
          <pc:docMk/>
          <pc:sldMk cId="3612157803" sldId="297"/>
        </pc:sldMkLst>
        <pc:spChg chg="add mod">
          <ac:chgData name="Jarwar, Aslam" userId="75d93315-874a-4ad5-b3dc-bf5b1eca5536" providerId="ADAL" clId="{1083C4EE-AB30-43A2-B7B3-EAB156D87910}" dt="2026-06-03T09:15:09.594" v="2808" actId="1076"/>
          <ac:spMkLst>
            <pc:docMk/>
            <pc:sldMk cId="3612157803" sldId="297"/>
            <ac:spMk id="4" creationId="{BACBEAE8-AB12-D10C-1426-CECD5B271008}"/>
          </ac:spMkLst>
        </pc:spChg>
        <pc:spChg chg="mod">
          <ac:chgData name="Jarwar, Aslam" userId="75d93315-874a-4ad5-b3dc-bf5b1eca5536" providerId="ADAL" clId="{1083C4EE-AB30-43A2-B7B3-EAB156D87910}" dt="2026-06-03T09:14:49.866" v="2805"/>
          <ac:spMkLst>
            <pc:docMk/>
            <pc:sldMk cId="3612157803" sldId="297"/>
            <ac:spMk id="8" creationId="{3A0E3AFE-11F1-1809-09A8-8E0A33C84352}"/>
          </ac:spMkLst>
        </pc:spChg>
      </pc:sldChg>
      <pc:sldChg chg="addSp delSp modSp add mod ord">
        <pc:chgData name="Jarwar, Aslam" userId="75d93315-874a-4ad5-b3dc-bf5b1eca5536" providerId="ADAL" clId="{1083C4EE-AB30-43A2-B7B3-EAB156D87910}" dt="2026-06-03T09:15:15.545" v="2809" actId="6549"/>
        <pc:sldMkLst>
          <pc:docMk/>
          <pc:sldMk cId="3032240268" sldId="298"/>
        </pc:sldMkLst>
        <pc:spChg chg="add mod">
          <ac:chgData name="Jarwar, Aslam" userId="75d93315-874a-4ad5-b3dc-bf5b1eca5536" providerId="ADAL" clId="{1083C4EE-AB30-43A2-B7B3-EAB156D87910}" dt="2026-06-03T09:14:27.266" v="2804"/>
          <ac:spMkLst>
            <pc:docMk/>
            <pc:sldMk cId="3032240268" sldId="298"/>
            <ac:spMk id="4" creationId="{3D6BE313-08D7-C832-CD99-B64458572C37}"/>
          </ac:spMkLst>
        </pc:spChg>
        <pc:spChg chg="del">
          <ac:chgData name="Jarwar, Aslam" userId="75d93315-874a-4ad5-b3dc-bf5b1eca5536" providerId="ADAL" clId="{1083C4EE-AB30-43A2-B7B3-EAB156D87910}" dt="2026-06-03T09:15:02.714" v="2806" actId="21"/>
          <ac:spMkLst>
            <pc:docMk/>
            <pc:sldMk cId="3032240268" sldId="298"/>
            <ac:spMk id="5" creationId="{BACBEAE8-AB12-D10C-1426-CECD5B271008}"/>
          </ac:spMkLst>
        </pc:spChg>
        <pc:spChg chg="mod">
          <ac:chgData name="Jarwar, Aslam" userId="75d93315-874a-4ad5-b3dc-bf5b1eca5536" providerId="ADAL" clId="{1083C4EE-AB30-43A2-B7B3-EAB156D87910}" dt="2026-06-03T09:15:15.545" v="2809" actId="6549"/>
          <ac:spMkLst>
            <pc:docMk/>
            <pc:sldMk cId="3032240268" sldId="298"/>
            <ac:spMk id="8" creationId="{4227BFD0-440A-6886-D2DF-025F2FC8B0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D204C-3E18-4CDE-8426-4B12770C980B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83968-FA1D-4FB3-843C-BDE1EFF2A9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517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D15-1C1E-F7E8-0B29-19856A6C8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C2EC5-3963-798F-668A-0025E9849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AA6C9-A904-031C-97E2-87B5B9E05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https://python-course.eu/oop/class-instance-attributes.php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E15FF-DD2D-61C9-E2E4-9539204A2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83968-FA1D-4FB3-843C-BDE1EFF2A90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031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https://python-course.eu/oop/class-instance-attributes.php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83968-FA1D-4FB3-843C-BDE1EFF2A90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8779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6EA2-AF37-F943-72A7-0FB1FA025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39BE0-60D7-2920-0DDB-8CF9F00897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C63A5-7365-B5B0-8E82-42D6A3D95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https://python-course.eu/oop/class-instance-attributes.php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19021-E0E5-AE38-A09B-A84108E8A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83968-FA1D-4FB3-843C-BDE1EFF2A90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841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D8240-2772-37CB-1FEA-C72AD1DAF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FDCBD-0852-D72A-93D7-A0AD6EF07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570C1-C230-1E05-FC52-FB1E65559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https://python-course.eu/oop/class-instance-attributes.php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52B71-2F8B-EF4F-F4F0-6172B77B5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83968-FA1D-4FB3-843C-BDE1EFF2A90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412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405C-C4E6-BA02-82A4-DBF350F0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1179A-1EAF-2BD9-AF8C-2479D8428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710A0-CEAB-9A66-2E57-E608AE3C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https://python-course.eu/oop/class-instance-attributes.php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7DBDA-312D-956A-D46B-1641A5515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83968-FA1D-4FB3-843C-BDE1EFF2A90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4170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DBBF7-B663-2EA1-C69D-A31BB6E60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59B51-09FF-4F6D-B8FF-80EC89EFB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98955-3220-4286-FDA5-ABF3F32EE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https://python-course.eu/oop/class-instance-attributes.php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6B957-C37A-AEA3-0F34-AF71596E3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83968-FA1D-4FB3-843C-BDE1EFF2A90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690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83968-FA1D-4FB3-843C-BDE1EFF2A90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93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E3F2-1705-153C-74A1-D07DDF366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F88939-7E7B-40E3-924B-EF6C3BF6A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6BC3C-6198-433E-A44B-8CC22B68D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https://python-course.eu/oop/class-instance-attributes.php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6953A-C26E-B81A-DC06-1D585676E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83968-FA1D-4FB3-843C-BDE1EFF2A90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375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8C8F4-18EE-306F-9107-5FDAE013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77352-7C11-A97E-DFB0-AAC44D577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6F6B0-8847-2B09-92B9-4FC6E44B3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https://python-course.eu/oop/class-instance-attributes.php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48E52-E4AA-DE3F-14CC-5DCFC88FF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83968-FA1D-4FB3-843C-BDE1EFF2A90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885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EFC5F-A316-05A3-4626-D2EDD6F1E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28BA8A-F7F6-B696-41C0-2526783F2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0117B-D27B-1513-C819-1B7CE9837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https://python-course.eu/oop/class-instance-attributes.php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C36F6-9D91-36AD-B547-F15F1BA5D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83968-FA1D-4FB3-843C-BDE1EFF2A90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585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43EA8-BBA5-D935-9232-99803889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34DE4-B2B5-8F30-830A-E1041AFE9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24F57-2875-6043-DC78-7F2113774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https://python-course.eu/oop/class-instance-attributes.php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6BFB6-23C5-CD3D-91D3-08C8DAF7E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83968-FA1D-4FB3-843C-BDE1EFF2A90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124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55BC0-79A9-B218-648C-24CD990E3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51CC8-A256-C41E-F376-8F106EB12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2CE3B-D74D-E3FF-FF44-EE49E1FD6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https://python-course.eu/oop/class-instance-attributes.php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DE6C9-8119-4593-DB2D-12261CE1B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83968-FA1D-4FB3-843C-BDE1EFF2A90C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580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D8D0B73-2A78-EE8F-7868-143EA9E4FB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1" y="6356350"/>
            <a:ext cx="4954395" cy="365125"/>
          </a:xfrm>
          <a:prstGeom prst="rect">
            <a:avLst/>
          </a:prstGeom>
        </p:spPr>
        <p:txBody>
          <a:bodyPr/>
          <a:lstStyle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7401AE62-ACEE-4CBF-ABCE-6DEA53F53216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>
                <a:defRPr/>
              </a:pPr>
              <a:t>‹#›</a:t>
            </a:fld>
            <a:r>
              <a:rPr lang="en-US" sz="14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|  www.shu.ac.uk | ©  2025 Sheffield Hallam University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1690B07-68E7-8EFD-8DDC-EE20077C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94338" y="6356349"/>
            <a:ext cx="4218542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Advanced Software Design and Development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058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561" y="460615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181" y="222871"/>
            <a:ext cx="10921985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81" y="1951087"/>
            <a:ext cx="10951427" cy="42211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8E85FAA-E02A-EDAD-BC5F-EB3C3874E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1" y="6356350"/>
            <a:ext cx="4954395" cy="365125"/>
          </a:xfrm>
          <a:prstGeom prst="rect">
            <a:avLst/>
          </a:prstGeom>
        </p:spPr>
        <p:txBody>
          <a:bodyPr/>
          <a:lstStyle>
            <a:lvl1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7401AE62-ACEE-4CBF-ABCE-6DEA53F53216}" type="slidenum">
              <a:rPr lang="en-US" smtClean="0">
                <a:solidFill>
                  <a:schemeClr val="bg1">
                    <a:lumMod val="50000"/>
                  </a:schemeClr>
                </a:solidFill>
              </a:rPr>
              <a:pPr>
                <a:defRPr/>
              </a:pPr>
              <a:t>‹#›</a:t>
            </a:fld>
            <a:r>
              <a:rPr lang="en-US" sz="1400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|   www.shu.ac.uk  |    ©  2025 Sheffield Hallam University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C8A005F-9680-4680-5931-02F05FD1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72909" y="6356349"/>
            <a:ext cx="4218542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Advanced Software Design and Development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58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4593116" cy="365125"/>
          </a:xfrm>
          <a:prstGeom prst="rect">
            <a:avLst/>
          </a:prstGeom>
        </p:spPr>
        <p:txBody>
          <a:bodyPr/>
          <a:lstStyle/>
          <a:p>
            <a:fld id="{02AC24A9-CCB6-4F8D-B8DB-C2F3692CFA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5878" y="6356349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36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AC24A9-CCB6-4F8D-B8DB-C2F3692CFA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5878" y="6356349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9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AC24A9-CCB6-4F8D-B8DB-C2F3692CFA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5878" y="6356349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0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4593116" cy="365125"/>
          </a:xfrm>
          <a:prstGeom prst="rect">
            <a:avLst/>
          </a:prstGeom>
        </p:spPr>
        <p:txBody>
          <a:bodyPr/>
          <a:lstStyle/>
          <a:p>
            <a:fld id="{02AC24A9-CCB6-4F8D-B8DB-C2F3692CFA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5878" y="6356349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2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4593116" cy="365125"/>
          </a:xfrm>
          <a:prstGeom prst="rect">
            <a:avLst/>
          </a:prstGeom>
        </p:spPr>
        <p:txBody>
          <a:bodyPr/>
          <a:lstStyle/>
          <a:p>
            <a:fld id="{02AC24A9-CCB6-4F8D-B8DB-C2F3692CFA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5878" y="6356349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68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AC24A9-CCB6-4F8D-B8DB-C2F3692CFA5A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5878" y="6356349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79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AC24A9-CCB6-4F8D-B8DB-C2F3692CFA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5878" y="6356349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4593116" cy="365125"/>
          </a:xfrm>
          <a:prstGeom prst="rect">
            <a:avLst/>
          </a:prstGeom>
        </p:spPr>
        <p:txBody>
          <a:bodyPr/>
          <a:lstStyle/>
          <a:p>
            <a:fld id="{02AC24A9-CCB6-4F8D-B8DB-C2F3692CFA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5878" y="6356349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43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4593116" cy="365125"/>
          </a:xfrm>
          <a:prstGeom prst="rect">
            <a:avLst/>
          </a:prstGeom>
        </p:spPr>
        <p:txBody>
          <a:bodyPr/>
          <a:lstStyle/>
          <a:p>
            <a:fld id="{02AC24A9-CCB6-4F8D-B8DB-C2F3692CFA5A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25878" y="6356349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72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36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jpeg"/><Relationship Id="rId7" Type="http://schemas.microsoft.com/office/2007/relationships/hdphoto" Target="../media/hdphoto3.wd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jpeg"/><Relationship Id="rId5" Type="http://schemas.openxmlformats.org/officeDocument/2006/relationships/image" Target="../media/image7.png"/><Relationship Id="rId10" Type="http://schemas.openxmlformats.org/officeDocument/2006/relationships/image" Target="../media/image11.jpe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jpe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11" Type="http://schemas.openxmlformats.org/officeDocument/2006/relationships/image" Target="../media/image4.jpeg"/><Relationship Id="rId5" Type="http://schemas.openxmlformats.org/officeDocument/2006/relationships/image" Target="../media/image8.png"/><Relationship Id="rId10" Type="http://schemas.openxmlformats.org/officeDocument/2006/relationships/image" Target="../media/image5.jpeg"/><Relationship Id="rId4" Type="http://schemas.openxmlformats.org/officeDocument/2006/relationships/image" Target="../media/image12.jpe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lorful background with waves&#10;&#10;AI-generated content may be incorrect.">
            <a:extLst>
              <a:ext uri="{FF2B5EF4-FFF2-40B4-BE49-F238E27FC236}">
                <a16:creationId xmlns:a16="http://schemas.microsoft.com/office/drawing/2014/main" id="{03970BAE-C361-052B-ED7B-9A5DF2507D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37" r="2256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DD1A79-BB3F-ACF7-3EE8-C5E3208B3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5805588" cy="320413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Object Oriented Programming-1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896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6521-E3ED-F92C-17FE-8D5D629FB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9F397-8F5D-AE7E-9F71-D01582E62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Why we need object-oriented programming</a:t>
            </a:r>
          </a:p>
          <a:p>
            <a:r>
              <a:rPr lang="en-GB" dirty="0"/>
              <a:t>Concept of object and class</a:t>
            </a:r>
          </a:p>
          <a:p>
            <a:r>
              <a:rPr lang="en-GB" dirty="0"/>
              <a:t>Creating object and class</a:t>
            </a:r>
          </a:p>
          <a:p>
            <a:r>
              <a:rPr lang="en-GB" dirty="0"/>
              <a:t>Attributes and functions/methods</a:t>
            </a:r>
          </a:p>
          <a:p>
            <a:r>
              <a:rPr lang="en-GB" dirty="0"/>
              <a:t>Calling attributes &amp; methods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8940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1E24-BF1A-3233-0110-D4C9947DD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 Oriented Programming (OOP)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3A094-8F92-BA7B-CFE0-E59664E02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approach to code or design software by using the concepts of </a:t>
            </a:r>
            <a:r>
              <a:rPr lang="en-GB" b="1" dirty="0"/>
              <a:t>objects</a:t>
            </a:r>
            <a:r>
              <a:rPr lang="en-GB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3EFB08-B7BD-405A-257B-37A39F3B4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 l="8558" t="26324" r="8558"/>
          <a:stretch>
            <a:fillRect/>
          </a:stretch>
        </p:blipFill>
        <p:spPr>
          <a:xfrm>
            <a:off x="3066941" y="2754921"/>
            <a:ext cx="6330463" cy="375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55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51313-A692-DB33-B80A-9091CD47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we need OOP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54196C-B119-C4D5-070E-3FCBC0A0C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9822" t="13396" r="6881"/>
          <a:stretch>
            <a:fillRect/>
          </a:stretch>
        </p:blipFill>
        <p:spPr>
          <a:xfrm>
            <a:off x="1942421" y="1402447"/>
            <a:ext cx="8307157" cy="46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86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E9401-5367-9AEC-C222-25E8FFC1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1FDB4-542F-FD9D-64A2-7FB22A44D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51087"/>
            <a:ext cx="6317098" cy="4221113"/>
          </a:xfrm>
        </p:spPr>
        <p:txBody>
          <a:bodyPr/>
          <a:lstStyle/>
          <a:p>
            <a:r>
              <a:rPr lang="en-GB" dirty="0"/>
              <a:t>Objects are  tangible/Non-Tangible things </a:t>
            </a:r>
          </a:p>
          <a:p>
            <a:r>
              <a:rPr lang="en-GB" dirty="0"/>
              <a:t>Visible things that can be perceived by the senses</a:t>
            </a:r>
          </a:p>
          <a:p>
            <a:r>
              <a:rPr lang="en-GB" dirty="0"/>
              <a:t>Specific form</a:t>
            </a:r>
          </a:p>
          <a:p>
            <a:r>
              <a:rPr lang="en-GB" dirty="0"/>
              <a:t>Interacted with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DEB3B9-A1B4-CE2E-F28A-D44C014BAA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1738" y="810944"/>
            <a:ext cx="1181100" cy="1183005"/>
          </a:xfrm>
          <a:prstGeom prst="rect">
            <a:avLst/>
          </a:prstGeom>
          <a:noFill/>
        </p:spPr>
      </p:pic>
      <p:pic>
        <p:nvPicPr>
          <p:cNvPr id="16" name="Picture 15" descr="584 Bartlett Pear Single Whole Stock Photos - Free &amp; Royalty-Free Stock  Photos from Dreamstime">
            <a:extLst>
              <a:ext uri="{FF2B5EF4-FFF2-40B4-BE49-F238E27FC236}">
                <a16:creationId xmlns:a16="http://schemas.microsoft.com/office/drawing/2014/main" id="{994CC239-05C5-D84D-B06F-AE020C7EEC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798" y="4720773"/>
            <a:ext cx="1732079" cy="1811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 descr="Mitsubishi PNG transparent image download, size: 800x480px">
            <a:extLst>
              <a:ext uri="{FF2B5EF4-FFF2-40B4-BE49-F238E27FC236}">
                <a16:creationId xmlns:a16="http://schemas.microsoft.com/office/drawing/2014/main" id="{48662613-D07B-5704-7351-1F6FA0F122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065" y="4061643"/>
            <a:ext cx="2197100" cy="1318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descr="New Toyota RAV4 Hybrid For Sale in Pahrump, NV | Auto Navigator">
            <a:extLst>
              <a:ext uri="{FF2B5EF4-FFF2-40B4-BE49-F238E27FC236}">
                <a16:creationId xmlns:a16="http://schemas.microsoft.com/office/drawing/2014/main" id="{DCB6C7C7-2EAC-5C1B-C2EA-F5FC4D28FA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098" y="2245995"/>
            <a:ext cx="2224245" cy="11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 descr="3D Boeing 777-9 Aircraft British Airways Model - TurboSquid 1509754">
            <a:extLst>
              <a:ext uri="{FF2B5EF4-FFF2-40B4-BE49-F238E27FC236}">
                <a16:creationId xmlns:a16="http://schemas.microsoft.com/office/drawing/2014/main" id="{696798B9-D0B5-2CAF-A47D-10C5FF53859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537" y="5334727"/>
            <a:ext cx="1765300" cy="8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 descr="Airbus A380 Airliner Air India 3D Model - TurboSquid 2021694">
            <a:extLst>
              <a:ext uri="{FF2B5EF4-FFF2-40B4-BE49-F238E27FC236}">
                <a16:creationId xmlns:a16="http://schemas.microsoft.com/office/drawing/2014/main" id="{745C8D30-3A48-DC6E-F88E-04C9C6E8CF4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7283" y="4032335"/>
            <a:ext cx="135445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 descr="Student PNG transparent image download, size: 724x865px">
            <a:extLst>
              <a:ext uri="{FF2B5EF4-FFF2-40B4-BE49-F238E27FC236}">
                <a16:creationId xmlns:a16="http://schemas.microsoft.com/office/drawing/2014/main" id="{B6DD7BF9-DE3E-CB84-1484-6BAE877A78C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729" y="5153611"/>
            <a:ext cx="1021715" cy="94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AF16B13-5F2C-34C5-6034-41F5F317FED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231" y="4347302"/>
            <a:ext cx="952500" cy="1428750"/>
          </a:xfrm>
          <a:prstGeom prst="rect">
            <a:avLst/>
          </a:prstGeom>
          <a:noFill/>
        </p:spPr>
      </p:pic>
      <p:pic>
        <p:nvPicPr>
          <p:cNvPr id="1026" name="Picture 2" descr="How Much Experience Do You Need to Become a Registered Nurse?">
            <a:extLst>
              <a:ext uri="{FF2B5EF4-FFF2-40B4-BE49-F238E27FC236}">
                <a16:creationId xmlns:a16="http://schemas.microsoft.com/office/drawing/2014/main" id="{BF3BE54C-22E9-70A5-B301-9BD8AB8E0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544" y="1053244"/>
            <a:ext cx="1832247" cy="1223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52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F914-AD58-6C62-A588-D72999F92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of Objects: Class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1C8FE1-DF72-F953-D2A8-B981BF981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82" y="1951087"/>
            <a:ext cx="3742204" cy="4221113"/>
          </a:xfrm>
        </p:spPr>
        <p:txBody>
          <a:bodyPr/>
          <a:lstStyle/>
          <a:p>
            <a:r>
              <a:rPr lang="en-GB" dirty="0"/>
              <a:t>Arrange objects into groups based on their features-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671488-3978-2F15-07E4-2F0B41B451E4}"/>
              </a:ext>
            </a:extLst>
          </p:cNvPr>
          <p:cNvSpPr/>
          <p:nvPr/>
        </p:nvSpPr>
        <p:spPr>
          <a:xfrm>
            <a:off x="457201" y="3534376"/>
            <a:ext cx="3317630" cy="310075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A38832A-53F0-A77E-F7E8-16FB7FDBEEE5}"/>
              </a:ext>
            </a:extLst>
          </p:cNvPr>
          <p:cNvSpPr/>
          <p:nvPr/>
        </p:nvSpPr>
        <p:spPr>
          <a:xfrm>
            <a:off x="3892062" y="3534376"/>
            <a:ext cx="3317630" cy="310075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FA143F4-948D-DB7B-E3B0-62BAC617CAD8}"/>
              </a:ext>
            </a:extLst>
          </p:cNvPr>
          <p:cNvSpPr/>
          <p:nvPr/>
        </p:nvSpPr>
        <p:spPr>
          <a:xfrm>
            <a:off x="7497611" y="3496496"/>
            <a:ext cx="3317630" cy="310075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FF1C37-49E8-8B54-B51A-11EEA35DB194}"/>
              </a:ext>
            </a:extLst>
          </p:cNvPr>
          <p:cNvSpPr/>
          <p:nvPr/>
        </p:nvSpPr>
        <p:spPr>
          <a:xfrm>
            <a:off x="8689517" y="0"/>
            <a:ext cx="3317630" cy="310075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 descr="Student PNG transparent image download, size: 724x865px">
            <a:extLst>
              <a:ext uri="{FF2B5EF4-FFF2-40B4-BE49-F238E27FC236}">
                <a16:creationId xmlns:a16="http://schemas.microsoft.com/office/drawing/2014/main" id="{1B9AD717-1223-BEEA-5979-FDAB2045EC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301" y="3874227"/>
            <a:ext cx="1021715" cy="94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11ED16-42FD-979A-A93A-63B3B9924A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894" y="4106002"/>
            <a:ext cx="952500" cy="1428750"/>
          </a:xfrm>
          <a:prstGeom prst="rect">
            <a:avLst/>
          </a:prstGeom>
          <a:noFill/>
        </p:spPr>
      </p:pic>
      <p:pic>
        <p:nvPicPr>
          <p:cNvPr id="18" name="Picture 2" descr="How Much Experience Do You Need to Become a Registered Nurse?">
            <a:extLst>
              <a:ext uri="{FF2B5EF4-FFF2-40B4-BE49-F238E27FC236}">
                <a16:creationId xmlns:a16="http://schemas.microsoft.com/office/drawing/2014/main" id="{69C2C50D-00FC-4BE0-287F-3414AE2D3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760" y="5084752"/>
            <a:ext cx="1442189" cy="962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3D Boeing 777-9 Aircraft British Airways Model - TurboSquid 1509754">
            <a:extLst>
              <a:ext uri="{FF2B5EF4-FFF2-40B4-BE49-F238E27FC236}">
                <a16:creationId xmlns:a16="http://schemas.microsoft.com/office/drawing/2014/main" id="{AECF147B-FF5A-57A4-1C73-113FFF2586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227" y="4347302"/>
            <a:ext cx="1765300" cy="8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 descr="Airbus A380 Airliner Air India 3D Model - TurboSquid 2021694">
            <a:extLst>
              <a:ext uri="{FF2B5EF4-FFF2-40B4-BE49-F238E27FC236}">
                <a16:creationId xmlns:a16="http://schemas.microsoft.com/office/drawing/2014/main" id="{2AD5E806-0625-1586-9545-BF2F065464F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7762" y="5299663"/>
            <a:ext cx="135445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 descr="Mitsubishi PNG transparent image download, size: 800x480px">
            <a:extLst>
              <a:ext uri="{FF2B5EF4-FFF2-40B4-BE49-F238E27FC236}">
                <a16:creationId xmlns:a16="http://schemas.microsoft.com/office/drawing/2014/main" id="{8721B186-B626-E2FF-1E04-34CA0A29409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967" y="4129497"/>
            <a:ext cx="2197100" cy="1318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 descr="New Toyota RAV4 Hybrid For Sale in Pahrump, NV | Auto Navigator">
            <a:extLst>
              <a:ext uri="{FF2B5EF4-FFF2-40B4-BE49-F238E27FC236}">
                <a16:creationId xmlns:a16="http://schemas.microsoft.com/office/drawing/2014/main" id="{63782F5E-3D7D-794F-6A43-E4E9D4815C3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087" y="5084752"/>
            <a:ext cx="2224245" cy="11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 descr="584 Bartlett Pear Single Whole Stock Photos - Free &amp; Royalty-Free Stock  Photos from Dreamstime">
            <a:extLst>
              <a:ext uri="{FF2B5EF4-FFF2-40B4-BE49-F238E27FC236}">
                <a16:creationId xmlns:a16="http://schemas.microsoft.com/office/drawing/2014/main" id="{A7D24F9D-AADE-DB88-08DC-BC3FA29E5CA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9454" y="1082332"/>
            <a:ext cx="1306964" cy="1367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1D2221C-5287-E045-D854-D403AE3BD7F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703" y="897926"/>
            <a:ext cx="1045304" cy="1046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62725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7FAEA-D976-9030-EF5D-DDD77B363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C37AC-7252-0609-C54B-4A8CF1660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1" y="1570893"/>
            <a:ext cx="11146537" cy="4601308"/>
          </a:xfrm>
        </p:spPr>
        <p:txBody>
          <a:bodyPr/>
          <a:lstStyle/>
          <a:p>
            <a:r>
              <a:rPr lang="en-US" dirty="0"/>
              <a:t>Objects are characterized by two components: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1) </a:t>
            </a:r>
            <a:r>
              <a:rPr lang="en-US" b="1" dirty="0"/>
              <a:t>Data (also called Attributes)</a:t>
            </a:r>
          </a:p>
          <a:p>
            <a:pPr marL="0" indent="0">
              <a:buNone/>
            </a:pPr>
            <a:r>
              <a:rPr lang="en-US" dirty="0"/>
              <a:t>           2</a:t>
            </a:r>
            <a:r>
              <a:rPr lang="en-US" b="1" dirty="0"/>
              <a:t>) Behaviors (also called Procedures, Methods or functions)  </a:t>
            </a:r>
          </a:p>
        </p:txBody>
      </p:sp>
    </p:spTree>
    <p:extLst>
      <p:ext uri="{BB962C8B-B14F-4D97-AF65-F5344CB8AC3E}">
        <p14:creationId xmlns:p14="http://schemas.microsoft.com/office/powerpoint/2010/main" val="2785692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AC1FF-B478-3BEB-1FEC-72B93F60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EEDE4-441B-9DD6-A729-D2523807C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81" y="1559169"/>
            <a:ext cx="6947779" cy="4613031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A Class is a blueprint from which specific objects are created.</a:t>
            </a:r>
          </a:p>
          <a:p>
            <a:endParaRPr lang="en-GB" dirty="0"/>
          </a:p>
          <a:p>
            <a:r>
              <a:rPr lang="en-GB" dirty="0"/>
              <a:t>Classes allow you to group related data and behaviour together. This is called Encapsulation, and it offers Code Maintainability, Modularity and Reusability (because of modularity) and Security.</a:t>
            </a:r>
          </a:p>
          <a:p>
            <a:endParaRPr lang="en-GB" dirty="0"/>
          </a:p>
          <a:p>
            <a:r>
              <a:rPr lang="en-GB" dirty="0"/>
              <a:t>In other words, a class is a special data type which defines how to build a certain kind of object.</a:t>
            </a:r>
          </a:p>
          <a:p>
            <a:endParaRPr lang="en-GB" dirty="0"/>
          </a:p>
          <a:p>
            <a:r>
              <a:rPr lang="en-GB" dirty="0"/>
              <a:t>An Object is an instance of a specific Class.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BDE173-FCB1-7014-0CFD-A9FCE73B68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319"/>
          <a:stretch>
            <a:fillRect/>
          </a:stretch>
        </p:blipFill>
        <p:spPr>
          <a:xfrm>
            <a:off x="7788341" y="1733796"/>
            <a:ext cx="4403659" cy="389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15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42181-134E-A682-1054-79384FB33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 class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EF1A90-7385-5F78-8EBD-C89EFFB26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058" y="1788550"/>
            <a:ext cx="7270802" cy="403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887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3F525-60AD-E6C3-04D8-C10D6C9D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AD034-9C00-82AA-48A2-26524EB11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Flight class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F431CF-0572-3AF4-DB66-E79148AC5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21169" y="1490783"/>
            <a:ext cx="7549661" cy="454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9E7E5-7332-E926-7689-FAE6EC67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7EE6-EEB2-A5E0-6AED-935A03F2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D8DAD-AC34-32C1-1EC2-80CDC5FE4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Python a class is defined with the class </a:t>
            </a:r>
            <a:r>
              <a:rPr lang="en-GB" b="1" dirty="0">
                <a:solidFill>
                  <a:srgbClr val="FF0000"/>
                </a:solidFill>
              </a:rPr>
              <a:t>keyword</a:t>
            </a:r>
            <a:r>
              <a:rPr lang="en-GB" dirty="0"/>
              <a:t>, followed by an intended block</a:t>
            </a:r>
          </a:p>
          <a:p>
            <a:r>
              <a:rPr lang="en-GB" dirty="0"/>
              <a:t>Use </a:t>
            </a:r>
            <a:r>
              <a:rPr lang="en-GB" b="1" dirty="0">
                <a:solidFill>
                  <a:srgbClr val="FF0000"/>
                </a:solidFill>
              </a:rPr>
              <a:t>pass</a:t>
            </a:r>
            <a:r>
              <a:rPr lang="en-GB" dirty="0"/>
              <a:t> keyword to define empty class</a:t>
            </a:r>
          </a:p>
          <a:p>
            <a:r>
              <a:rPr lang="en-GB" dirty="0"/>
              <a:t>Use </a:t>
            </a:r>
            <a:r>
              <a:rPr lang="en-GB" b="1" dirty="0">
                <a:solidFill>
                  <a:srgbClr val="FF0000"/>
                </a:solidFill>
              </a:rPr>
              <a:t>pass</a:t>
            </a:r>
            <a:r>
              <a:rPr lang="en-GB" dirty="0"/>
              <a:t> keyword when you don’t know the attribute of class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2FD52-370F-974B-B240-85ACF2F1F18B}"/>
              </a:ext>
            </a:extLst>
          </p:cNvPr>
          <p:cNvSpPr txBox="1"/>
          <p:nvPr/>
        </p:nvSpPr>
        <p:spPr>
          <a:xfrm>
            <a:off x="6232173" y="4061643"/>
            <a:ext cx="4016232" cy="23083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Cavolini" panose="020B0502040204020203" pitchFamily="66" charset="0"/>
                <a:cs typeface="Cavolini" panose="020B0502040204020203" pitchFamily="66" charset="0"/>
              </a:defRPr>
            </a:lvl1pPr>
          </a:lstStyle>
          <a:p>
            <a:r>
              <a:rPr lang="en-GB" dirty="0"/>
              <a:t>Class  &lt;</a:t>
            </a:r>
            <a:r>
              <a:rPr lang="en-GB" dirty="0" err="1"/>
              <a:t>classname</a:t>
            </a:r>
            <a:r>
              <a:rPr lang="en-GB" dirty="0"/>
              <a:t>&gt;:</a:t>
            </a:r>
          </a:p>
          <a:p>
            <a:r>
              <a:rPr lang="en-GB" dirty="0"/>
              <a:t>	pass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048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BD793-7D7E-D258-C491-FD939985F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54578-E6E9-F49E-5F43-A44061F10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Python a class is defined with the class </a:t>
            </a:r>
            <a:r>
              <a:rPr lang="en-GB" b="1" dirty="0">
                <a:solidFill>
                  <a:srgbClr val="FF0000"/>
                </a:solidFill>
              </a:rPr>
              <a:t>keyword</a:t>
            </a:r>
            <a:r>
              <a:rPr lang="en-GB" dirty="0"/>
              <a:t>, followed by an intended block</a:t>
            </a:r>
          </a:p>
          <a:p>
            <a:r>
              <a:rPr lang="en-GB" dirty="0"/>
              <a:t>Don’t use </a:t>
            </a:r>
            <a:r>
              <a:rPr lang="en-GB" b="1" dirty="0">
                <a:solidFill>
                  <a:srgbClr val="FF0000"/>
                </a:solidFill>
              </a:rPr>
              <a:t>pass</a:t>
            </a:r>
            <a:r>
              <a:rPr lang="en-GB" dirty="0"/>
              <a:t> if you know the attribute of class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BCA63-5F60-5E75-0069-2303BB91FCAE}"/>
              </a:ext>
            </a:extLst>
          </p:cNvPr>
          <p:cNvSpPr txBox="1"/>
          <p:nvPr/>
        </p:nvSpPr>
        <p:spPr>
          <a:xfrm>
            <a:off x="6836629" y="3863876"/>
            <a:ext cx="4016232" cy="23083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Cavolini" panose="020B0502040204020203" pitchFamily="66" charset="0"/>
                <a:cs typeface="Cavolini" panose="020B0502040204020203" pitchFamily="66" charset="0"/>
              </a:defRPr>
            </a:lvl1pPr>
          </a:lstStyle>
          <a:p>
            <a:r>
              <a:rPr lang="en-GB" dirty="0"/>
              <a:t>Class  &lt;</a:t>
            </a:r>
            <a:r>
              <a:rPr lang="en-GB" dirty="0" err="1"/>
              <a:t>classname</a:t>
            </a:r>
            <a:r>
              <a:rPr lang="en-GB" dirty="0"/>
              <a:t>&gt;:</a:t>
            </a:r>
          </a:p>
          <a:p>
            <a:r>
              <a:rPr lang="en-GB" dirty="0"/>
              <a:t>	attribute=</a:t>
            </a:r>
            <a:r>
              <a:rPr lang="en-GB" dirty="0" err="1"/>
              <a:t>myattribute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3162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C5998FE-DFAD-D645-C2C5-2685C69DA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3245-97C9-E543-061F-9F1542217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 Person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E07FB-A0CB-7DCB-D2E9-184F327CE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Remember use class </a:t>
            </a:r>
            <a:r>
              <a:rPr lang="en-GB" b="1" dirty="0">
                <a:solidFill>
                  <a:srgbClr val="FF0000"/>
                </a:solidFill>
              </a:rPr>
              <a:t>keyword</a:t>
            </a:r>
            <a:r>
              <a:rPr lang="en-GB" dirty="0"/>
              <a:t> to define a class</a:t>
            </a:r>
          </a:p>
          <a:p>
            <a:r>
              <a:rPr lang="en-GB" dirty="0"/>
              <a:t>Remember don’t use </a:t>
            </a:r>
            <a:r>
              <a:rPr lang="en-GB" b="1" dirty="0">
                <a:solidFill>
                  <a:srgbClr val="FF0000"/>
                </a:solidFill>
              </a:rPr>
              <a:t>pass</a:t>
            </a:r>
            <a:r>
              <a:rPr lang="en-GB" dirty="0"/>
              <a:t> if you know the attribute of class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3B7475-745E-BB07-9B9D-9F3ECA121E1F}"/>
              </a:ext>
            </a:extLst>
          </p:cNvPr>
          <p:cNvSpPr txBox="1"/>
          <p:nvPr/>
        </p:nvSpPr>
        <p:spPr>
          <a:xfrm>
            <a:off x="6955383" y="3581519"/>
            <a:ext cx="4016232" cy="23083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Cavolini" panose="020B0502040204020203" pitchFamily="66" charset="0"/>
                <a:cs typeface="Cavolini" panose="020B0502040204020203" pitchFamily="66" charset="0"/>
              </a:defRPr>
            </a:lvl1pPr>
          </a:lstStyle>
          <a:p>
            <a:r>
              <a:rPr lang="en-GB" dirty="0"/>
              <a:t>Class  Person:</a:t>
            </a:r>
          </a:p>
          <a:p>
            <a:r>
              <a:rPr lang="en-GB" dirty="0"/>
              <a:t>	  pass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E22906-1F79-1E98-CC52-5FCE256D2316}"/>
              </a:ext>
            </a:extLst>
          </p:cNvPr>
          <p:cNvSpPr txBox="1"/>
          <p:nvPr/>
        </p:nvSpPr>
        <p:spPr>
          <a:xfrm>
            <a:off x="1524000" y="3581519"/>
            <a:ext cx="4194998" cy="23083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Cavolini" panose="020B0502040204020203" pitchFamily="66" charset="0"/>
                <a:cs typeface="Cavolini" panose="020B0502040204020203" pitchFamily="66" charset="0"/>
              </a:defRPr>
            </a:lvl1pPr>
          </a:lstStyle>
          <a:p>
            <a:r>
              <a:rPr lang="en-GB" dirty="0"/>
              <a:t>Class  &lt;</a:t>
            </a:r>
            <a:r>
              <a:rPr lang="en-GB" dirty="0" err="1"/>
              <a:t>classname</a:t>
            </a:r>
            <a:r>
              <a:rPr lang="en-GB" dirty="0"/>
              <a:t>&gt;:</a:t>
            </a:r>
          </a:p>
          <a:p>
            <a:r>
              <a:rPr lang="en-GB" dirty="0"/>
              <a:t>	attribute= </a:t>
            </a:r>
            <a:r>
              <a:rPr lang="en-GB" dirty="0" err="1"/>
              <a:t>myattribute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89323CD-7B72-B0A7-999C-71BD74605DB8}"/>
              </a:ext>
            </a:extLst>
          </p:cNvPr>
          <p:cNvSpPr/>
          <p:nvPr/>
        </p:nvSpPr>
        <p:spPr>
          <a:xfrm>
            <a:off x="5795198" y="4368849"/>
            <a:ext cx="1083985" cy="733663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endParaRPr lang="en-GB">
              <a:solidFill>
                <a:schemeClr val="bg1"/>
              </a:solidFill>
              <a:latin typeface="Cavolini" panose="020B0502040204020203" pitchFamily="66" charset="0"/>
              <a:cs typeface="Cavolini" panose="020B050204020402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101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0CF3-9A99-FB82-741A-D639A04C4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58CD-FABF-DAA9-6D0E-F1293544F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 Person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B0B7-AF24-AAD1-4787-3D5458775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Remember use class </a:t>
            </a:r>
            <a:r>
              <a:rPr lang="en-GB" b="1" dirty="0">
                <a:solidFill>
                  <a:srgbClr val="FF0000"/>
                </a:solidFill>
              </a:rPr>
              <a:t>keyword</a:t>
            </a:r>
            <a:r>
              <a:rPr lang="en-GB" dirty="0"/>
              <a:t> to define a class</a:t>
            </a:r>
          </a:p>
          <a:p>
            <a:r>
              <a:rPr lang="en-GB" dirty="0"/>
              <a:t>Remember don’t use </a:t>
            </a:r>
            <a:r>
              <a:rPr lang="en-GB" b="1" dirty="0">
                <a:solidFill>
                  <a:srgbClr val="FF0000"/>
                </a:solidFill>
              </a:rPr>
              <a:t>pass</a:t>
            </a:r>
            <a:r>
              <a:rPr lang="en-GB" dirty="0"/>
              <a:t> if you know the attribute of class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4E2A07-ED90-B991-E493-9429E15F8FFE}"/>
              </a:ext>
            </a:extLst>
          </p:cNvPr>
          <p:cNvSpPr txBox="1"/>
          <p:nvPr/>
        </p:nvSpPr>
        <p:spPr>
          <a:xfrm>
            <a:off x="7002274" y="3258221"/>
            <a:ext cx="4016232" cy="31393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Cavolini" panose="020B0502040204020203" pitchFamily="66" charset="0"/>
                <a:cs typeface="Cavolini" panose="020B0502040204020203" pitchFamily="66" charset="0"/>
              </a:defRPr>
            </a:lvl1pPr>
          </a:lstStyle>
          <a:p>
            <a:r>
              <a:rPr lang="en-GB" dirty="0">
                <a:solidFill>
                  <a:schemeClr val="bg1"/>
                </a:solidFill>
              </a:rPr>
              <a:t>Class  Person:</a:t>
            </a:r>
          </a:p>
          <a:p>
            <a:r>
              <a:rPr lang="en-GB" dirty="0">
                <a:solidFill>
                  <a:schemeClr val="bg1"/>
                </a:solidFill>
              </a:rPr>
              <a:t>	  name=“Alice”</a:t>
            </a:r>
          </a:p>
          <a:p>
            <a:r>
              <a:rPr lang="en-GB" dirty="0">
                <a:solidFill>
                  <a:schemeClr val="bg1"/>
                </a:solidFill>
              </a:rPr>
              <a:t>	 age=30</a:t>
            </a:r>
          </a:p>
          <a:p>
            <a:r>
              <a:rPr lang="en-GB" dirty="0">
                <a:solidFill>
                  <a:schemeClr val="bg1"/>
                </a:solidFill>
              </a:rPr>
              <a:t>            gender=“Female”</a:t>
            </a:r>
          </a:p>
          <a:p>
            <a:r>
              <a:rPr lang="en-GB" dirty="0">
                <a:solidFill>
                  <a:schemeClr val="bg1"/>
                </a:solidFill>
              </a:rPr>
              <a:t>            occupation=“Nurse”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720DA7-B3F1-1F33-E4BD-19F9B93A7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00" y="3483565"/>
            <a:ext cx="4841359" cy="268863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C33BECA-A537-9325-7EEB-7E07D9944326}"/>
              </a:ext>
            </a:extLst>
          </p:cNvPr>
          <p:cNvSpPr/>
          <p:nvPr/>
        </p:nvSpPr>
        <p:spPr>
          <a:xfrm>
            <a:off x="2344615" y="3270738"/>
            <a:ext cx="4747847" cy="16177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073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240A2-095D-2BC4-8739-CF63D733D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E30A3-8962-1F23-DB56-03360CDA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Using/calling person class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967A8-0E90-8B6A-EF24-B7AEFFFF0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81" y="1951087"/>
            <a:ext cx="3624973" cy="4221113"/>
          </a:xfrm>
        </p:spPr>
        <p:txBody>
          <a:bodyPr/>
          <a:lstStyle/>
          <a:p>
            <a:r>
              <a:rPr lang="en-GB" dirty="0"/>
              <a:t>Class attributes can be used by creating instance of class or object then using dot operator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27BFD0-440A-6886-D2DF-025F2FC8B037}"/>
              </a:ext>
            </a:extLst>
          </p:cNvPr>
          <p:cNvSpPr txBox="1"/>
          <p:nvPr/>
        </p:nvSpPr>
        <p:spPr>
          <a:xfrm>
            <a:off x="4396154" y="1305341"/>
            <a:ext cx="3751384" cy="45243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Cavolini" panose="020B0502040204020203" pitchFamily="66" charset="0"/>
                <a:cs typeface="Cavolini" panose="020B0502040204020203" pitchFamily="66" charset="0"/>
              </a:defRPr>
            </a:lvl1pPr>
          </a:lstStyle>
          <a:p>
            <a:r>
              <a:rPr lang="en-GB" dirty="0"/>
              <a:t>Class  Person:</a:t>
            </a:r>
          </a:p>
          <a:p>
            <a:r>
              <a:rPr lang="en-GB" dirty="0"/>
              <a:t>	  name=“Alice”</a:t>
            </a:r>
          </a:p>
          <a:p>
            <a:r>
              <a:rPr lang="en-GB" dirty="0"/>
              <a:t>	  age=30</a:t>
            </a:r>
          </a:p>
          <a:p>
            <a:r>
              <a:rPr lang="en-GB" dirty="0"/>
              <a:t>            gender=“Female”</a:t>
            </a:r>
          </a:p>
          <a:p>
            <a:r>
              <a:rPr lang="en-GB" dirty="0"/>
              <a:t>            occupation=“Nurse</a:t>
            </a:r>
          </a:p>
          <a:p>
            <a:endParaRPr lang="en-GB" dirty="0"/>
          </a:p>
          <a:p>
            <a:r>
              <a:rPr lang="en-GB" dirty="0"/>
              <a:t>p1=Person()</a:t>
            </a:r>
          </a:p>
          <a:p>
            <a:r>
              <a:rPr lang="en-GB" dirty="0"/>
              <a:t>p1.name</a:t>
            </a:r>
          </a:p>
          <a:p>
            <a:r>
              <a:rPr lang="en-GB" dirty="0"/>
              <a:t>p1.age</a:t>
            </a:r>
          </a:p>
          <a:p>
            <a:r>
              <a:rPr lang="en-GB" dirty="0"/>
              <a:t>p1.gender</a:t>
            </a:r>
          </a:p>
          <a:p>
            <a:r>
              <a:rPr lang="en-GB" dirty="0"/>
              <a:t>p1.occupation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91049-18BF-A441-09B2-2731485CAC87}"/>
              </a:ext>
            </a:extLst>
          </p:cNvPr>
          <p:cNvSpPr txBox="1"/>
          <p:nvPr/>
        </p:nvSpPr>
        <p:spPr>
          <a:xfrm>
            <a:off x="9172704" y="4050623"/>
            <a:ext cx="2520462" cy="175432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Cavolini" panose="020B0502040204020203" pitchFamily="66" charset="0"/>
                <a:cs typeface="Cavolini" panose="020B0502040204020203" pitchFamily="66" charset="0"/>
              </a:defRPr>
            </a:lvl1pPr>
          </a:lstStyle>
          <a:p>
            <a:r>
              <a:rPr lang="en-GB" dirty="0"/>
              <a:t>Alice</a:t>
            </a:r>
          </a:p>
          <a:p>
            <a:r>
              <a:rPr lang="en-GB" dirty="0"/>
              <a:t>30</a:t>
            </a:r>
          </a:p>
          <a:p>
            <a:r>
              <a:rPr lang="en-GB" dirty="0"/>
              <a:t>Female</a:t>
            </a:r>
          </a:p>
          <a:p>
            <a:r>
              <a:rPr lang="en-GB" dirty="0"/>
              <a:t>Nurse</a:t>
            </a:r>
          </a:p>
          <a:p>
            <a:r>
              <a:rPr lang="en-GB" dirty="0"/>
              <a:t>34</a:t>
            </a:r>
          </a:p>
          <a:p>
            <a:endParaRPr lang="en-GB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A5A6007-BAE1-B5DA-9EA4-F9C25C33F357}"/>
              </a:ext>
            </a:extLst>
          </p:cNvPr>
          <p:cNvSpPr/>
          <p:nvPr/>
        </p:nvSpPr>
        <p:spPr>
          <a:xfrm rot="1777308">
            <a:off x="8226230" y="3062168"/>
            <a:ext cx="1083985" cy="733663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endParaRPr lang="en-GB">
              <a:solidFill>
                <a:schemeClr val="bg1"/>
              </a:solidFill>
              <a:latin typeface="Cavolini" panose="020B0502040204020203" pitchFamily="66" charset="0"/>
              <a:cs typeface="Cavolini" panose="020B0502040204020203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554B8C-3D8B-9E20-D5FF-8DC3EE3B01A9}"/>
              </a:ext>
            </a:extLst>
          </p:cNvPr>
          <p:cNvSpPr txBox="1"/>
          <p:nvPr/>
        </p:nvSpPr>
        <p:spPr>
          <a:xfrm>
            <a:off x="9388909" y="3491524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Output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6BE313-08D7-C832-CD99-B64458572C37}"/>
              </a:ext>
            </a:extLst>
          </p:cNvPr>
          <p:cNvSpPr/>
          <p:nvPr/>
        </p:nvSpPr>
        <p:spPr>
          <a:xfrm>
            <a:off x="4412275" y="2802821"/>
            <a:ext cx="2079383" cy="17467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240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BBA29-83F7-D013-B88C-895CDB93A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A29C-173E-66F3-C6F1-68B2CE0D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Changing value of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06C12-96B5-72DA-33CB-D8DD2AD6F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81" y="1951087"/>
            <a:ext cx="3624973" cy="4221113"/>
          </a:xfrm>
        </p:spPr>
        <p:txBody>
          <a:bodyPr/>
          <a:lstStyle/>
          <a:p>
            <a:r>
              <a:rPr lang="en-GB" dirty="0"/>
              <a:t>Class attributes can be used by creating instance of class or object then using dot operator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E3AFE-11F1-1809-09A8-8E0A33C84352}"/>
              </a:ext>
            </a:extLst>
          </p:cNvPr>
          <p:cNvSpPr txBox="1"/>
          <p:nvPr/>
        </p:nvSpPr>
        <p:spPr>
          <a:xfrm>
            <a:off x="4396154" y="1305341"/>
            <a:ext cx="3751384" cy="480131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Cavolini" panose="020B0502040204020203" pitchFamily="66" charset="0"/>
                <a:cs typeface="Cavolini" panose="020B0502040204020203" pitchFamily="66" charset="0"/>
              </a:defRPr>
            </a:lvl1pPr>
          </a:lstStyle>
          <a:p>
            <a:r>
              <a:rPr lang="en-GB" dirty="0"/>
              <a:t>Class  Person:</a:t>
            </a:r>
          </a:p>
          <a:p>
            <a:r>
              <a:rPr lang="en-GB" dirty="0"/>
              <a:t>	  name=“Alice”</a:t>
            </a:r>
          </a:p>
          <a:p>
            <a:r>
              <a:rPr lang="en-GB" dirty="0"/>
              <a:t>	  age=30</a:t>
            </a:r>
          </a:p>
          <a:p>
            <a:r>
              <a:rPr lang="en-GB" dirty="0"/>
              <a:t>            gender=“Female”</a:t>
            </a:r>
          </a:p>
          <a:p>
            <a:r>
              <a:rPr lang="en-GB" dirty="0"/>
              <a:t>            occupation=“Nurse</a:t>
            </a:r>
          </a:p>
          <a:p>
            <a:endParaRPr lang="en-GB" dirty="0"/>
          </a:p>
          <a:p>
            <a:r>
              <a:rPr lang="en-GB" dirty="0"/>
              <a:t>p1=Person()</a:t>
            </a:r>
          </a:p>
          <a:p>
            <a:r>
              <a:rPr lang="en-GB" dirty="0"/>
              <a:t>p1.name</a:t>
            </a:r>
          </a:p>
          <a:p>
            <a:r>
              <a:rPr lang="en-GB" dirty="0"/>
              <a:t>p1.age</a:t>
            </a:r>
          </a:p>
          <a:p>
            <a:r>
              <a:rPr lang="en-GB" dirty="0"/>
              <a:t>p1.gender</a:t>
            </a:r>
          </a:p>
          <a:p>
            <a:r>
              <a:rPr lang="en-GB" dirty="0"/>
              <a:t>p1.ocupation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p1.age=34</a:t>
            </a:r>
          </a:p>
          <a:p>
            <a:r>
              <a:rPr lang="en-GB" dirty="0"/>
              <a:t>p1.age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BB2B86-AABC-7924-F2C7-A781B7948A50}"/>
              </a:ext>
            </a:extLst>
          </p:cNvPr>
          <p:cNvSpPr/>
          <p:nvPr/>
        </p:nvSpPr>
        <p:spPr>
          <a:xfrm>
            <a:off x="4412275" y="2802821"/>
            <a:ext cx="2079383" cy="17467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AA68B9-DB81-EDC4-3C8A-3AD4EBC609CA}"/>
              </a:ext>
            </a:extLst>
          </p:cNvPr>
          <p:cNvSpPr txBox="1"/>
          <p:nvPr/>
        </p:nvSpPr>
        <p:spPr>
          <a:xfrm>
            <a:off x="9172704" y="4050623"/>
            <a:ext cx="2520462" cy="147732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Cavolini" panose="020B0502040204020203" pitchFamily="66" charset="0"/>
                <a:cs typeface="Cavolini" panose="020B0502040204020203" pitchFamily="66" charset="0"/>
              </a:defRPr>
            </a:lvl1pPr>
          </a:lstStyle>
          <a:p>
            <a:r>
              <a:rPr lang="en-GB" dirty="0"/>
              <a:t>Alice</a:t>
            </a:r>
          </a:p>
          <a:p>
            <a:r>
              <a:rPr lang="en-GB" dirty="0"/>
              <a:t>30</a:t>
            </a:r>
          </a:p>
          <a:p>
            <a:r>
              <a:rPr lang="en-GB" dirty="0"/>
              <a:t>Female</a:t>
            </a:r>
          </a:p>
          <a:p>
            <a:r>
              <a:rPr lang="en-GB" dirty="0"/>
              <a:t>Nurse</a:t>
            </a:r>
          </a:p>
          <a:p>
            <a:endParaRPr lang="en-GB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4324159-E267-FCB5-6987-85BE118C00C4}"/>
              </a:ext>
            </a:extLst>
          </p:cNvPr>
          <p:cNvSpPr/>
          <p:nvPr/>
        </p:nvSpPr>
        <p:spPr>
          <a:xfrm rot="1777308">
            <a:off x="8226230" y="3062168"/>
            <a:ext cx="1083985" cy="733663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endParaRPr lang="en-GB">
              <a:solidFill>
                <a:schemeClr val="bg1"/>
              </a:solidFill>
              <a:latin typeface="Cavolini" panose="020B0502040204020203" pitchFamily="66" charset="0"/>
              <a:cs typeface="Cavolini" panose="020B0502040204020203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B73C9D-FCC4-A930-B26B-B0FF6AED58EC}"/>
              </a:ext>
            </a:extLst>
          </p:cNvPr>
          <p:cNvSpPr txBox="1"/>
          <p:nvPr/>
        </p:nvSpPr>
        <p:spPr>
          <a:xfrm>
            <a:off x="9388909" y="3491524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Output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CBEAE8-AB12-D10C-1426-CECD5B271008}"/>
              </a:ext>
            </a:extLst>
          </p:cNvPr>
          <p:cNvSpPr/>
          <p:nvPr/>
        </p:nvSpPr>
        <p:spPr>
          <a:xfrm>
            <a:off x="4412275" y="4770661"/>
            <a:ext cx="2177565" cy="91251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2157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75CA3-BAB6-9BA4-1195-CBE2D36A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in 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25110-0392-9A28-54F6-75EFE8033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109" y="2091162"/>
            <a:ext cx="10168128" cy="3903111"/>
          </a:xfrm>
        </p:spPr>
        <p:txBody>
          <a:bodyPr>
            <a:normAutofit/>
          </a:bodyPr>
          <a:lstStyle/>
          <a:p>
            <a:r>
              <a:rPr lang="en-US" b="1" dirty="0"/>
              <a:t>Define a method in a class by including function definitions</a:t>
            </a:r>
          </a:p>
          <a:p>
            <a:pPr marL="0" indent="0">
              <a:buNone/>
            </a:pPr>
            <a:r>
              <a:rPr lang="en-US" b="1" dirty="0"/>
              <a:t>   within the scope of the class block</a:t>
            </a:r>
            <a:r>
              <a:rPr lang="en-US" dirty="0"/>
              <a:t>. That means that when you are </a:t>
            </a:r>
          </a:p>
          <a:p>
            <a:pPr marL="0" indent="0">
              <a:buNone/>
            </a:pPr>
            <a:r>
              <a:rPr lang="en-US" dirty="0"/>
              <a:t>   developing a class, any function that you want to be a "method" of </a:t>
            </a:r>
          </a:p>
          <a:p>
            <a:pPr marL="0" indent="0">
              <a:buNone/>
            </a:pPr>
            <a:r>
              <a:rPr lang="en-US" dirty="0"/>
              <a:t>   that class (meaning it can be called on objects of that class) needs </a:t>
            </a:r>
          </a:p>
          <a:p>
            <a:pPr marL="0" indent="0">
              <a:buNone/>
            </a:pPr>
            <a:r>
              <a:rPr lang="en-US" dirty="0"/>
              <a:t>   to be written with an indentation level that places it </a:t>
            </a:r>
            <a:r>
              <a:rPr lang="en-US" i="1" dirty="0"/>
              <a:t>inside</a:t>
            </a:r>
            <a:r>
              <a:rPr lang="en-US" dirty="0"/>
              <a:t> the class’s </a:t>
            </a:r>
          </a:p>
          <a:p>
            <a:pPr marL="0" indent="0">
              <a:buNone/>
            </a:pPr>
            <a:r>
              <a:rPr lang="en-US" dirty="0"/>
              <a:t>   definition.</a:t>
            </a:r>
          </a:p>
        </p:txBody>
      </p:sp>
    </p:spTree>
    <p:extLst>
      <p:ext uri="{BB962C8B-B14F-4D97-AF65-F5344CB8AC3E}">
        <p14:creationId xmlns:p14="http://schemas.microsoft.com/office/powerpoint/2010/main" val="2790482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28AA8-1911-B795-B5EE-90E20661E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028E-0CB0-B7E2-F862-6D5A86F24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Creating functionality for the person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3A3DA-AE36-A97A-6F74-A0CE5EA5D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81" y="1735015"/>
            <a:ext cx="10951427" cy="4437185"/>
          </a:xfrm>
        </p:spPr>
        <p:txBody>
          <a:bodyPr/>
          <a:lstStyle/>
          <a:p>
            <a:r>
              <a:rPr lang="en-GB" dirty="0"/>
              <a:t>Remember function/procedure/method all are different name to represent the behaviour of class</a:t>
            </a:r>
          </a:p>
          <a:p>
            <a:r>
              <a:rPr lang="en-GB" b="1" dirty="0">
                <a:solidFill>
                  <a:srgbClr val="FF0000"/>
                </a:solidFill>
              </a:rPr>
              <a:t>def</a:t>
            </a:r>
            <a:r>
              <a:rPr lang="en-GB" dirty="0"/>
              <a:t> keyword for defining method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DC1564-0569-0618-D3CA-C5D9C05647A8}"/>
              </a:ext>
            </a:extLst>
          </p:cNvPr>
          <p:cNvSpPr txBox="1"/>
          <p:nvPr/>
        </p:nvSpPr>
        <p:spPr>
          <a:xfrm>
            <a:off x="7119505" y="2775485"/>
            <a:ext cx="4016232" cy="397031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Cavolini" panose="020B0502040204020203" pitchFamily="66" charset="0"/>
                <a:cs typeface="Cavolini" panose="020B0502040204020203" pitchFamily="66" charset="0"/>
              </a:defRPr>
            </a:lvl1pPr>
          </a:lstStyle>
          <a:p>
            <a:r>
              <a:rPr lang="en-GB" dirty="0">
                <a:solidFill>
                  <a:schemeClr val="bg1"/>
                </a:solidFill>
              </a:rPr>
              <a:t>Class  Person:</a:t>
            </a:r>
          </a:p>
          <a:p>
            <a:r>
              <a:rPr lang="en-GB" dirty="0">
                <a:solidFill>
                  <a:schemeClr val="bg1"/>
                </a:solidFill>
              </a:rPr>
              <a:t>	  name=“Alice”</a:t>
            </a:r>
          </a:p>
          <a:p>
            <a:r>
              <a:rPr lang="en-GB" dirty="0">
                <a:solidFill>
                  <a:schemeClr val="bg1"/>
                </a:solidFill>
              </a:rPr>
              <a:t>	 age=30</a:t>
            </a:r>
          </a:p>
          <a:p>
            <a:r>
              <a:rPr lang="en-GB" dirty="0">
                <a:solidFill>
                  <a:schemeClr val="bg1"/>
                </a:solidFill>
              </a:rPr>
              <a:t>            gender=“Female”</a:t>
            </a:r>
          </a:p>
          <a:p>
            <a:r>
              <a:rPr lang="en-GB" dirty="0">
                <a:solidFill>
                  <a:schemeClr val="bg1"/>
                </a:solidFill>
              </a:rPr>
              <a:t>            occupation=“Nurse”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def &lt;</a:t>
            </a:r>
            <a:r>
              <a:rPr lang="en-GB" dirty="0" err="1">
                <a:solidFill>
                  <a:schemeClr val="bg1"/>
                </a:solidFill>
              </a:rPr>
              <a:t>method_name</a:t>
            </a:r>
            <a:r>
              <a:rPr lang="en-GB" dirty="0">
                <a:solidFill>
                  <a:schemeClr val="bg1"/>
                </a:solidFill>
              </a:rPr>
              <a:t>&gt;():</a:t>
            </a:r>
          </a:p>
          <a:p>
            <a:r>
              <a:rPr lang="en-GB" dirty="0">
                <a:solidFill>
                  <a:schemeClr val="bg1"/>
                </a:solidFill>
              </a:rPr>
              <a:t>	.</a:t>
            </a:r>
          </a:p>
          <a:p>
            <a:r>
              <a:rPr lang="en-GB" dirty="0">
                <a:solidFill>
                  <a:schemeClr val="bg1"/>
                </a:solidFill>
              </a:rPr>
              <a:t>	.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428DAF-FA1E-8622-E707-87977C12A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00" y="3483565"/>
            <a:ext cx="4841359" cy="268863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B4B94D7-7C3B-F1BA-3DD2-4B677E6CEE69}"/>
              </a:ext>
            </a:extLst>
          </p:cNvPr>
          <p:cNvSpPr/>
          <p:nvPr/>
        </p:nvSpPr>
        <p:spPr>
          <a:xfrm>
            <a:off x="2567354" y="4779757"/>
            <a:ext cx="4185138" cy="16177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C45AD-608E-96C0-5694-A3CF59AF38FF}"/>
              </a:ext>
            </a:extLst>
          </p:cNvPr>
          <p:cNvSpPr/>
          <p:nvPr/>
        </p:nvSpPr>
        <p:spPr>
          <a:xfrm>
            <a:off x="7119503" y="4302369"/>
            <a:ext cx="4016233" cy="2930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FB3644-EA49-F9D9-46CF-877B46618CC7}"/>
              </a:ext>
            </a:extLst>
          </p:cNvPr>
          <p:cNvSpPr/>
          <p:nvPr/>
        </p:nvSpPr>
        <p:spPr>
          <a:xfrm>
            <a:off x="7152602" y="4677264"/>
            <a:ext cx="512221" cy="4099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130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D810-FE41-0B04-50D2-B5F674061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543A3-CA83-9D59-A003-5694C363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Creating functionality for the person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76A3F-1603-3C72-CF1D-EB1C0B99C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82" y="1559169"/>
            <a:ext cx="6637804" cy="4613031"/>
          </a:xfrm>
        </p:spPr>
        <p:txBody>
          <a:bodyPr/>
          <a:lstStyle/>
          <a:p>
            <a:r>
              <a:rPr lang="en-GB" dirty="0"/>
              <a:t>Remember function/procedure/method all are different name to represent the behaviour of class</a:t>
            </a:r>
          </a:p>
          <a:p>
            <a:r>
              <a:rPr lang="en-GB" b="1" dirty="0">
                <a:solidFill>
                  <a:srgbClr val="FF0000"/>
                </a:solidFill>
              </a:rPr>
              <a:t>def</a:t>
            </a:r>
            <a:r>
              <a:rPr lang="en-GB" dirty="0"/>
              <a:t> keyword for defining method</a:t>
            </a:r>
          </a:p>
          <a:p>
            <a:r>
              <a:rPr lang="en-GB" dirty="0"/>
              <a:t>Use </a:t>
            </a:r>
            <a:r>
              <a:rPr lang="en-GB" b="1" dirty="0">
                <a:solidFill>
                  <a:srgbClr val="FF0000"/>
                </a:solidFill>
              </a:rPr>
              <a:t>pass</a:t>
            </a:r>
            <a:r>
              <a:rPr lang="en-GB" dirty="0"/>
              <a:t> keyword when you don’t know the attribute of class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4C3DA9-84BF-5853-9776-FEC1E0F85421}"/>
              </a:ext>
            </a:extLst>
          </p:cNvPr>
          <p:cNvSpPr txBox="1"/>
          <p:nvPr/>
        </p:nvSpPr>
        <p:spPr>
          <a:xfrm>
            <a:off x="7998735" y="1402447"/>
            <a:ext cx="4016232" cy="480131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Cavolini" panose="020B0502040204020203" pitchFamily="66" charset="0"/>
                <a:cs typeface="Cavolini" panose="020B0502040204020203" pitchFamily="66" charset="0"/>
              </a:defRPr>
            </a:lvl1pPr>
          </a:lstStyle>
          <a:p>
            <a:r>
              <a:rPr lang="en-GB" dirty="0">
                <a:solidFill>
                  <a:schemeClr val="bg1"/>
                </a:solidFill>
              </a:rPr>
              <a:t>Class  Person:</a:t>
            </a:r>
          </a:p>
          <a:p>
            <a:r>
              <a:rPr lang="en-GB" dirty="0">
                <a:solidFill>
                  <a:schemeClr val="bg1"/>
                </a:solidFill>
              </a:rPr>
              <a:t>	  name=“Alice”</a:t>
            </a:r>
          </a:p>
          <a:p>
            <a:r>
              <a:rPr lang="en-GB" dirty="0">
                <a:solidFill>
                  <a:schemeClr val="bg1"/>
                </a:solidFill>
              </a:rPr>
              <a:t>	 age=30</a:t>
            </a:r>
          </a:p>
          <a:p>
            <a:r>
              <a:rPr lang="en-GB" dirty="0">
                <a:solidFill>
                  <a:schemeClr val="bg1"/>
                </a:solidFill>
              </a:rPr>
              <a:t>            gender=“Female”</a:t>
            </a:r>
          </a:p>
          <a:p>
            <a:r>
              <a:rPr lang="en-GB" dirty="0">
                <a:solidFill>
                  <a:schemeClr val="bg1"/>
                </a:solidFill>
              </a:rPr>
              <a:t>            occupation=“Nurse”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def walk(self):</a:t>
            </a:r>
          </a:p>
          <a:p>
            <a:r>
              <a:rPr lang="en-GB" dirty="0">
                <a:solidFill>
                  <a:schemeClr val="bg1"/>
                </a:solidFill>
              </a:rPr>
              <a:t>	pass</a:t>
            </a:r>
          </a:p>
          <a:p>
            <a:r>
              <a:rPr lang="en-GB" dirty="0">
                <a:solidFill>
                  <a:schemeClr val="bg1"/>
                </a:solidFill>
              </a:rPr>
              <a:t>def eat(self):</a:t>
            </a:r>
          </a:p>
          <a:p>
            <a:r>
              <a:rPr lang="en-GB" dirty="0">
                <a:solidFill>
                  <a:schemeClr val="bg1"/>
                </a:solidFill>
              </a:rPr>
              <a:t>	pass</a:t>
            </a:r>
          </a:p>
          <a:p>
            <a:r>
              <a:rPr lang="en-GB" dirty="0">
                <a:solidFill>
                  <a:schemeClr val="bg1"/>
                </a:solidFill>
              </a:rPr>
              <a:t>def sleep(self):</a:t>
            </a:r>
          </a:p>
          <a:p>
            <a:r>
              <a:rPr lang="en-GB" dirty="0">
                <a:solidFill>
                  <a:schemeClr val="bg1"/>
                </a:solidFill>
              </a:rPr>
              <a:t>	pass</a:t>
            </a:r>
          </a:p>
          <a:p>
            <a:r>
              <a:rPr lang="en-GB" dirty="0">
                <a:solidFill>
                  <a:schemeClr val="bg1"/>
                </a:solidFill>
              </a:rPr>
              <a:t>def work(self):</a:t>
            </a:r>
          </a:p>
          <a:p>
            <a:r>
              <a:rPr lang="en-GB" dirty="0">
                <a:solidFill>
                  <a:schemeClr val="bg1"/>
                </a:solidFill>
              </a:rPr>
              <a:t>	pass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3300A9-1BB2-2BD2-FB4C-253932A8D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456" y="4506049"/>
            <a:ext cx="3833782" cy="21290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816073-4C2E-63D8-5967-2A331FD242EC}"/>
              </a:ext>
            </a:extLst>
          </p:cNvPr>
          <p:cNvSpPr/>
          <p:nvPr/>
        </p:nvSpPr>
        <p:spPr>
          <a:xfrm>
            <a:off x="7998733" y="2929331"/>
            <a:ext cx="4016233" cy="2930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C4A0ECF-069D-F4AD-D3C2-7CD96B077CAB}"/>
              </a:ext>
            </a:extLst>
          </p:cNvPr>
          <p:cNvSpPr/>
          <p:nvPr/>
        </p:nvSpPr>
        <p:spPr>
          <a:xfrm rot="20000394">
            <a:off x="5576469" y="5408741"/>
            <a:ext cx="2370085" cy="733663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endParaRPr lang="en-GB">
              <a:solidFill>
                <a:schemeClr val="bg1"/>
              </a:solidFill>
              <a:latin typeface="Cavolini" panose="020B0502040204020203" pitchFamily="66" charset="0"/>
              <a:cs typeface="Cavolini" panose="020B0502040204020203" pitchFamily="66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DA650-1DA5-931F-F6A9-5AABFF409D34}"/>
              </a:ext>
            </a:extLst>
          </p:cNvPr>
          <p:cNvSpPr/>
          <p:nvPr/>
        </p:nvSpPr>
        <p:spPr>
          <a:xfrm>
            <a:off x="7998733" y="3276906"/>
            <a:ext cx="512221" cy="4099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C3E738-3528-42A8-F12B-2209E5E242A3}"/>
              </a:ext>
            </a:extLst>
          </p:cNvPr>
          <p:cNvSpPr/>
          <p:nvPr/>
        </p:nvSpPr>
        <p:spPr>
          <a:xfrm>
            <a:off x="8944709" y="4212972"/>
            <a:ext cx="703384" cy="29307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510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2D180-45CB-B1A8-F85A-0C7EAC874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B5D44-12AD-1919-3FAE-06F7DC82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Creating functionality for the person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E291E-8F84-3D6A-A1A3-9F5C1821B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82" y="1559169"/>
            <a:ext cx="6637804" cy="4613031"/>
          </a:xfrm>
        </p:spPr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self</a:t>
            </a:r>
            <a:r>
              <a:rPr lang="en-GB" dirty="0"/>
              <a:t> is not keyword</a:t>
            </a:r>
          </a:p>
          <a:p>
            <a:r>
              <a:rPr lang="en-GB" dirty="0"/>
              <a:t>In class methods first parameter is always </a:t>
            </a:r>
            <a:r>
              <a:rPr lang="en-GB" b="1" dirty="0">
                <a:solidFill>
                  <a:srgbClr val="FF0000"/>
                </a:solidFill>
              </a:rPr>
              <a:t>self</a:t>
            </a:r>
          </a:p>
          <a:p>
            <a:r>
              <a:rPr lang="en-GB" b="1" dirty="0">
                <a:solidFill>
                  <a:srgbClr val="FF0000"/>
                </a:solidFill>
              </a:rPr>
              <a:t>self </a:t>
            </a:r>
            <a:r>
              <a:rPr lang="en-GB" dirty="0"/>
              <a:t>is accessing attribute </a:t>
            </a:r>
          </a:p>
          <a:p>
            <a:r>
              <a:rPr lang="en-GB" dirty="0"/>
              <a:t>any other word can be used instead of </a:t>
            </a:r>
            <a:r>
              <a:rPr lang="en-GB" b="1" dirty="0">
                <a:solidFill>
                  <a:srgbClr val="FF0000"/>
                </a:solidFill>
              </a:rPr>
              <a:t>self</a:t>
            </a:r>
            <a:r>
              <a:rPr lang="en-GB" dirty="0"/>
              <a:t> 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808AD-FEC7-CB74-66E8-5943439ACFC5}"/>
              </a:ext>
            </a:extLst>
          </p:cNvPr>
          <p:cNvSpPr txBox="1"/>
          <p:nvPr/>
        </p:nvSpPr>
        <p:spPr>
          <a:xfrm>
            <a:off x="7998735" y="1402447"/>
            <a:ext cx="4016232" cy="480131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Cavolini" panose="020B0502040204020203" pitchFamily="66" charset="0"/>
                <a:cs typeface="Cavolini" panose="020B0502040204020203" pitchFamily="66" charset="0"/>
              </a:defRPr>
            </a:lvl1pPr>
          </a:lstStyle>
          <a:p>
            <a:r>
              <a:rPr lang="en-GB" dirty="0">
                <a:solidFill>
                  <a:schemeClr val="bg1"/>
                </a:solidFill>
              </a:rPr>
              <a:t>Class  Person:</a:t>
            </a:r>
          </a:p>
          <a:p>
            <a:r>
              <a:rPr lang="en-GB" dirty="0">
                <a:solidFill>
                  <a:schemeClr val="bg1"/>
                </a:solidFill>
              </a:rPr>
              <a:t>	  name=“Alice”</a:t>
            </a:r>
          </a:p>
          <a:p>
            <a:r>
              <a:rPr lang="en-GB" dirty="0">
                <a:solidFill>
                  <a:schemeClr val="bg1"/>
                </a:solidFill>
              </a:rPr>
              <a:t>	 age=30</a:t>
            </a:r>
          </a:p>
          <a:p>
            <a:r>
              <a:rPr lang="en-GB" dirty="0">
                <a:solidFill>
                  <a:schemeClr val="bg1"/>
                </a:solidFill>
              </a:rPr>
              <a:t>            gender=“Female”</a:t>
            </a:r>
          </a:p>
          <a:p>
            <a:r>
              <a:rPr lang="en-GB" dirty="0">
                <a:solidFill>
                  <a:schemeClr val="bg1"/>
                </a:solidFill>
              </a:rPr>
              <a:t>            occupation=“Nurse”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def walk(self):</a:t>
            </a:r>
          </a:p>
          <a:p>
            <a:r>
              <a:rPr lang="en-GB" dirty="0">
                <a:solidFill>
                  <a:schemeClr val="bg1"/>
                </a:solidFill>
              </a:rPr>
              <a:t>	pass</a:t>
            </a:r>
          </a:p>
          <a:p>
            <a:r>
              <a:rPr lang="en-GB" dirty="0">
                <a:solidFill>
                  <a:schemeClr val="bg1"/>
                </a:solidFill>
              </a:rPr>
              <a:t>def eat(self):</a:t>
            </a:r>
          </a:p>
          <a:p>
            <a:r>
              <a:rPr lang="en-GB" dirty="0">
                <a:solidFill>
                  <a:schemeClr val="bg1"/>
                </a:solidFill>
              </a:rPr>
              <a:t>	pass</a:t>
            </a:r>
          </a:p>
          <a:p>
            <a:r>
              <a:rPr lang="en-GB" dirty="0">
                <a:solidFill>
                  <a:schemeClr val="bg1"/>
                </a:solidFill>
              </a:rPr>
              <a:t>def sleep(self):</a:t>
            </a:r>
          </a:p>
          <a:p>
            <a:r>
              <a:rPr lang="en-GB" dirty="0">
                <a:solidFill>
                  <a:schemeClr val="bg1"/>
                </a:solidFill>
              </a:rPr>
              <a:t>	pass</a:t>
            </a:r>
          </a:p>
          <a:p>
            <a:r>
              <a:rPr lang="en-GB" dirty="0">
                <a:solidFill>
                  <a:schemeClr val="bg1"/>
                </a:solidFill>
              </a:rPr>
              <a:t>def work(self):</a:t>
            </a:r>
          </a:p>
          <a:p>
            <a:r>
              <a:rPr lang="en-GB" dirty="0">
                <a:solidFill>
                  <a:schemeClr val="bg1"/>
                </a:solidFill>
              </a:rPr>
              <a:t>	pass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EEE3D7-7137-E3E8-373D-F915CAC30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456" y="4506049"/>
            <a:ext cx="3833782" cy="21290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75565A2-1C08-6AF5-DDEA-CE06E9BBEACC}"/>
              </a:ext>
            </a:extLst>
          </p:cNvPr>
          <p:cNvSpPr/>
          <p:nvPr/>
        </p:nvSpPr>
        <p:spPr>
          <a:xfrm>
            <a:off x="7998733" y="2929331"/>
            <a:ext cx="4016233" cy="2930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A263ECE-9F8E-27FA-0483-7D09373D2052}"/>
              </a:ext>
            </a:extLst>
          </p:cNvPr>
          <p:cNvSpPr/>
          <p:nvPr/>
        </p:nvSpPr>
        <p:spPr>
          <a:xfrm rot="20000394">
            <a:off x="5576469" y="5408741"/>
            <a:ext cx="2370085" cy="733663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endParaRPr lang="en-GB">
              <a:solidFill>
                <a:schemeClr val="bg1"/>
              </a:solidFill>
              <a:latin typeface="Cavolini" panose="020B0502040204020203" pitchFamily="66" charset="0"/>
              <a:cs typeface="Cavolini" panose="020B0502040204020203" pitchFamily="66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B3EBBC-49E8-5E27-3AE5-A6ACF5BB3929}"/>
              </a:ext>
            </a:extLst>
          </p:cNvPr>
          <p:cNvSpPr/>
          <p:nvPr/>
        </p:nvSpPr>
        <p:spPr>
          <a:xfrm>
            <a:off x="9296401" y="3307722"/>
            <a:ext cx="512221" cy="4099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310023-6949-4AD9-F27D-3ED6693F0674}"/>
              </a:ext>
            </a:extLst>
          </p:cNvPr>
          <p:cNvSpPr/>
          <p:nvPr/>
        </p:nvSpPr>
        <p:spPr>
          <a:xfrm>
            <a:off x="8944708" y="3865684"/>
            <a:ext cx="863913" cy="29307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1325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284E4-BEEC-83F2-8591-1409225E6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F8FD-A35D-E5F6-E360-13759E88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Using person class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88009-1E10-DD93-69D5-55749C955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182" y="1559169"/>
            <a:ext cx="4222849" cy="4613031"/>
          </a:xfrm>
        </p:spPr>
        <p:txBody>
          <a:bodyPr/>
          <a:lstStyle/>
          <a:p>
            <a:r>
              <a:rPr lang="en-GB" dirty="0"/>
              <a:t>Class methods can be used by creating instance of class or object then using dot operator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D4897E-2EC9-1FDD-FDBE-70BF768D5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37" y="4321726"/>
            <a:ext cx="3833782" cy="212908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D0B78BE-DE46-8B81-8488-9DDB3C86AF1D}"/>
              </a:ext>
            </a:extLst>
          </p:cNvPr>
          <p:cNvGrpSpPr/>
          <p:nvPr/>
        </p:nvGrpSpPr>
        <p:grpSpPr>
          <a:xfrm>
            <a:off x="5519718" y="1160585"/>
            <a:ext cx="4033474" cy="5601533"/>
            <a:chOff x="5519718" y="972302"/>
            <a:chExt cx="4033474" cy="560153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8CB109B-B5A0-C24C-4366-68F8382BE92C}"/>
                </a:ext>
              </a:extLst>
            </p:cNvPr>
            <p:cNvSpPr txBox="1"/>
            <p:nvPr/>
          </p:nvSpPr>
          <p:spPr>
            <a:xfrm>
              <a:off x="5519719" y="972302"/>
              <a:ext cx="4016232" cy="560153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latin typeface="Cavolini" panose="020B0502040204020203" pitchFamily="66" charset="0"/>
                  <a:cs typeface="Cavolini" panose="020B0502040204020203" pitchFamily="66" charset="0"/>
                </a:defRPr>
              </a:lvl1pPr>
            </a:lstStyle>
            <a:p>
              <a:r>
                <a:rPr lang="en-GB" sz="1400" dirty="0">
                  <a:solidFill>
                    <a:schemeClr val="bg1"/>
                  </a:solidFill>
                </a:rPr>
                <a:t>Class  Person: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	  name=“Alice”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	 age=30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              gender=“Female”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              occupation=“Nurse”</a:t>
              </a:r>
            </a:p>
            <a:p>
              <a:endParaRPr lang="en-GB" sz="1400" dirty="0">
                <a:solidFill>
                  <a:schemeClr val="bg1"/>
                </a:solidFill>
              </a:endParaRPr>
            </a:p>
            <a:p>
              <a:r>
                <a:rPr lang="en-GB" sz="1400" dirty="0">
                  <a:solidFill>
                    <a:schemeClr val="bg1"/>
                  </a:solidFill>
                </a:rPr>
                <a:t>def walk(self):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	print(‘walk method’)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def eat(self):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	print(‘eat method’)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def sleep(self):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	pass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def work(self):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	pass</a:t>
              </a:r>
            </a:p>
            <a:p>
              <a:endParaRPr lang="en-GB" sz="1400" dirty="0">
                <a:solidFill>
                  <a:schemeClr val="bg1"/>
                </a:solidFill>
              </a:endParaRPr>
            </a:p>
            <a:p>
              <a:r>
                <a:rPr lang="en-GB" sz="1400" dirty="0">
                  <a:solidFill>
                    <a:schemeClr val="bg1"/>
                  </a:solidFill>
                </a:rPr>
                <a:t>p1=Person()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p1.name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p1.age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p1.gender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p1.occupation</a:t>
              </a:r>
            </a:p>
            <a:p>
              <a:endParaRPr lang="en-GB" sz="1400" dirty="0">
                <a:solidFill>
                  <a:schemeClr val="bg1"/>
                </a:solidFill>
              </a:endParaRPr>
            </a:p>
            <a:p>
              <a:r>
                <a:rPr lang="en-GB" sz="1400" dirty="0">
                  <a:solidFill>
                    <a:schemeClr val="bg1"/>
                  </a:solidFill>
                </a:rPr>
                <a:t>p1.walk()</a:t>
              </a:r>
            </a:p>
            <a:p>
              <a:r>
                <a:rPr lang="en-GB" sz="1400" dirty="0">
                  <a:solidFill>
                    <a:schemeClr val="bg1"/>
                  </a:solidFill>
                </a:rPr>
                <a:t>p1.eat()</a:t>
              </a:r>
            </a:p>
            <a:p>
              <a:endParaRPr lang="en-GB" dirty="0">
                <a:solidFill>
                  <a:schemeClr val="bg1"/>
                </a:solidFill>
              </a:endParaRPr>
            </a:p>
            <a:p>
              <a:r>
                <a:rPr lang="en-GB" dirty="0">
                  <a:solidFill>
                    <a:schemeClr val="bg1"/>
                  </a:solidFill>
                </a:rPr>
                <a:t>	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2638AF-3317-393B-FD2E-B935BE0DBA56}"/>
                </a:ext>
              </a:extLst>
            </p:cNvPr>
            <p:cNvSpPr/>
            <p:nvPr/>
          </p:nvSpPr>
          <p:spPr>
            <a:xfrm>
              <a:off x="5519718" y="2128682"/>
              <a:ext cx="4033474" cy="979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Arrow: Right 6">
            <a:extLst>
              <a:ext uri="{FF2B5EF4-FFF2-40B4-BE49-F238E27FC236}">
                <a16:creationId xmlns:a16="http://schemas.microsoft.com/office/drawing/2014/main" id="{C31160E1-234F-DC07-2E62-7E36D80F158C}"/>
              </a:ext>
            </a:extLst>
          </p:cNvPr>
          <p:cNvSpPr/>
          <p:nvPr/>
        </p:nvSpPr>
        <p:spPr>
          <a:xfrm rot="18428045">
            <a:off x="3404215" y="3109309"/>
            <a:ext cx="2100585" cy="733663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endParaRPr lang="en-GB">
              <a:solidFill>
                <a:schemeClr val="bg1"/>
              </a:solidFill>
              <a:latin typeface="Cavolini" panose="020B0502040204020203" pitchFamily="66" charset="0"/>
              <a:cs typeface="Cavolini" panose="020B0502040204020203" pitchFamily="66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D55673E-61F6-BD0B-CD28-F78557CF38E2}"/>
              </a:ext>
            </a:extLst>
          </p:cNvPr>
          <p:cNvSpPr/>
          <p:nvPr/>
        </p:nvSpPr>
        <p:spPr>
          <a:xfrm rot="20000394">
            <a:off x="4110012" y="5221108"/>
            <a:ext cx="1315013" cy="733663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/>
          <a:p>
            <a:endParaRPr lang="en-GB">
              <a:solidFill>
                <a:schemeClr val="bg1"/>
              </a:solidFill>
              <a:latin typeface="Cavolini" panose="020B0502040204020203" pitchFamily="66" charset="0"/>
              <a:cs typeface="Cavolini" panose="020B0502040204020203" pitchFamily="66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B2BF4C-9257-22E7-CCF5-D35040B52ECE}"/>
              </a:ext>
            </a:extLst>
          </p:cNvPr>
          <p:cNvSpPr/>
          <p:nvPr/>
        </p:nvSpPr>
        <p:spPr>
          <a:xfrm>
            <a:off x="5502477" y="4272797"/>
            <a:ext cx="4033474" cy="9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81C449-E8DF-B12A-EA25-16B5CF817B87}"/>
              </a:ext>
            </a:extLst>
          </p:cNvPr>
          <p:cNvSpPr txBox="1"/>
          <p:nvPr/>
        </p:nvSpPr>
        <p:spPr>
          <a:xfrm>
            <a:off x="9674672" y="4226422"/>
            <a:ext cx="2520462" cy="20313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Cavolini" panose="020B0502040204020203" pitchFamily="66" charset="0"/>
                <a:cs typeface="Cavolini" panose="020B0502040204020203" pitchFamily="66" charset="0"/>
              </a:defRPr>
            </a:lvl1pPr>
          </a:lstStyle>
          <a:p>
            <a:r>
              <a:rPr lang="en-GB" dirty="0"/>
              <a:t>Alice</a:t>
            </a:r>
          </a:p>
          <a:p>
            <a:r>
              <a:rPr lang="en-GB" dirty="0"/>
              <a:t>30</a:t>
            </a:r>
          </a:p>
          <a:p>
            <a:r>
              <a:rPr lang="en-GB" dirty="0"/>
              <a:t>Female</a:t>
            </a:r>
          </a:p>
          <a:p>
            <a:r>
              <a:rPr lang="en-GB" dirty="0"/>
              <a:t>Nurse</a:t>
            </a:r>
          </a:p>
          <a:p>
            <a:r>
              <a:rPr lang="en-GB" dirty="0"/>
              <a:t>walk method</a:t>
            </a:r>
          </a:p>
          <a:p>
            <a:r>
              <a:rPr lang="en-GB" dirty="0"/>
              <a:t>eat method</a:t>
            </a:r>
          </a:p>
          <a:p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2B344F-BE58-83C6-5EA7-B5E658386DE0}"/>
              </a:ext>
            </a:extLst>
          </p:cNvPr>
          <p:cNvSpPr txBox="1"/>
          <p:nvPr/>
        </p:nvSpPr>
        <p:spPr>
          <a:xfrm>
            <a:off x="9890877" y="3667323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171245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5C906-DD50-E242-39FB-8F87D93A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CE2CC-4242-9D36-977F-B26EED432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 Flight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79154-3A67-EFF6-DB0A-9C8D0B1A4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Flight class and add attributes and functionality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1D767-C6A1-5BAE-F089-30F39115CE54}"/>
              </a:ext>
            </a:extLst>
          </p:cNvPr>
          <p:cNvSpPr txBox="1"/>
          <p:nvPr/>
        </p:nvSpPr>
        <p:spPr>
          <a:xfrm>
            <a:off x="7002274" y="3258221"/>
            <a:ext cx="4016232" cy="20313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Cavolini" panose="020B0502040204020203" pitchFamily="66" charset="0"/>
                <a:cs typeface="Cavolini" panose="020B0502040204020203" pitchFamily="66" charset="0"/>
              </a:defRPr>
            </a:lvl1pPr>
          </a:lstStyle>
          <a:p>
            <a:r>
              <a:rPr lang="en-GB" dirty="0">
                <a:solidFill>
                  <a:schemeClr val="bg1"/>
                </a:solidFill>
              </a:rPr>
              <a:t>Class activity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28788C-93B6-5BD9-8AB6-90906726F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4581" y="3163980"/>
            <a:ext cx="5525838" cy="332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19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B17C5-2AF1-330A-D656-98B26C5CA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Any Questions </a:t>
            </a:r>
          </a:p>
        </p:txBody>
      </p:sp>
      <p:pic>
        <p:nvPicPr>
          <p:cNvPr id="7" name="Content Placeholder 6" descr="A person riding a bicycle with a question mark above&#10;&#10;Description automatically generated">
            <a:extLst>
              <a:ext uri="{FF2B5EF4-FFF2-40B4-BE49-F238E27FC236}">
                <a16:creationId xmlns:a16="http://schemas.microsoft.com/office/drawing/2014/main" id="{9CFED5BB-41DB-2DC3-1D85-65AE014D42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34266"/>
            <a:ext cx="9738911" cy="4589467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E6ECBF-2E67-92A1-7DF1-F8E1CF34072B}"/>
              </a:ext>
            </a:extLst>
          </p:cNvPr>
          <p:cNvSpPr txBox="1"/>
          <p:nvPr/>
        </p:nvSpPr>
        <p:spPr>
          <a:xfrm>
            <a:off x="1792995" y="2960649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106563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AccentBoxVTI">
    <a:dk1>
      <a:srgbClr val="000000"/>
    </a:dk1>
    <a:lt1>
      <a:sysClr val="window" lastClr="FFFFFF"/>
    </a:lt1>
    <a:dk2>
      <a:srgbClr val="262626"/>
    </a:dk2>
    <a:lt2>
      <a:srgbClr val="FFFFFF"/>
    </a:lt2>
    <a:accent1>
      <a:srgbClr val="F5A700"/>
    </a:accent1>
    <a:accent2>
      <a:srgbClr val="00A5AB"/>
    </a:accent2>
    <a:accent3>
      <a:srgbClr val="09963B"/>
    </a:accent3>
    <a:accent4>
      <a:srgbClr val="E64823"/>
    </a:accent4>
    <a:accent5>
      <a:srgbClr val="9C6A6A"/>
    </a:accent5>
    <a:accent6>
      <a:srgbClr val="824F8C"/>
    </a:accent6>
    <a:hlink>
      <a:srgbClr val="2998E3"/>
    </a:hlink>
    <a:folHlink>
      <a:srgbClr val="7F723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8552</TotalTime>
  <Words>1071</Words>
  <Application>Microsoft Office PowerPoint</Application>
  <PresentationFormat>Widescreen</PresentationFormat>
  <Paragraphs>252</Paragraphs>
  <Slides>23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Cavolini</vt:lpstr>
      <vt:lpstr>Neue Haas Grotesk Text Pro</vt:lpstr>
      <vt:lpstr>AccentBoxVTI</vt:lpstr>
      <vt:lpstr>Object Oriented Programming-1</vt:lpstr>
      <vt:lpstr>Outline</vt:lpstr>
      <vt:lpstr>Object Oriented Programming (OOP)</vt:lpstr>
      <vt:lpstr>Why we need OOP</vt:lpstr>
      <vt:lpstr>Objects</vt:lpstr>
      <vt:lpstr>Group of Objects: Class</vt:lpstr>
      <vt:lpstr>Objects</vt:lpstr>
      <vt:lpstr>Class</vt:lpstr>
      <vt:lpstr>Person class</vt:lpstr>
      <vt:lpstr>Flight class</vt:lpstr>
      <vt:lpstr>Creating Class</vt:lpstr>
      <vt:lpstr>Creating Class</vt:lpstr>
      <vt:lpstr>Creating  Person Class</vt:lpstr>
      <vt:lpstr>Creating  Person Class</vt:lpstr>
      <vt:lpstr>Using/calling person class attribute</vt:lpstr>
      <vt:lpstr>Changing value of attribute</vt:lpstr>
      <vt:lpstr>Methods in a Class</vt:lpstr>
      <vt:lpstr>Creating functionality for the person class</vt:lpstr>
      <vt:lpstr>Creating functionality for the person class</vt:lpstr>
      <vt:lpstr>Creating functionality for the person class</vt:lpstr>
      <vt:lpstr>Using person class methods</vt:lpstr>
      <vt:lpstr>Creating  Flight Class</vt:lpstr>
      <vt:lpstr>Any Questions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Domdouzis, Konstantinos</dc:creator>
  <cp:lastModifiedBy>Jarwar, Aslam</cp:lastModifiedBy>
  <cp:revision>152</cp:revision>
  <dcterms:created xsi:type="dcterms:W3CDTF">2025-07-09T09:34:54Z</dcterms:created>
  <dcterms:modified xsi:type="dcterms:W3CDTF">2026-06-03T09:15:18Z</dcterms:modified>
</cp:coreProperties>
</file>